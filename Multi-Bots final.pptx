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21" r:id="rId4"/>
    <p:sldMasterId id="2147483941" r:id="rId5"/>
  </p:sldMasterIdLst>
  <p:notesMasterIdLst>
    <p:notesMasterId r:id="rId13"/>
  </p:notesMasterIdLst>
  <p:handoutMasterIdLst>
    <p:handoutMasterId r:id="rId14"/>
  </p:handoutMasterIdLst>
  <p:sldIdLst>
    <p:sldId id="2147479510" r:id="rId6"/>
    <p:sldId id="2147478866" r:id="rId7"/>
    <p:sldId id="2147478862" r:id="rId8"/>
    <p:sldId id="2147478861" r:id="rId9"/>
    <p:sldId id="2147479513" r:id="rId10"/>
    <p:sldId id="2147478864" r:id="rId11"/>
    <p:sldId id="214747951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orient="horz" pos="3480" userDrawn="1">
          <p15:clr>
            <a:srgbClr val="A4A3A4"/>
          </p15:clr>
        </p15:guide>
        <p15:guide id="3" orient="horz" pos="196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0FE45A-7076-C060-3926-02C230FFCD7B}" name="Gartner, David (Cognizant)" initials="GD(" userId="S::930056@cognizant.com::31109c44-657a-4c1f-917c-0cd2083250d2" providerId="AD"/>
  <p188:author id="{8A5BD095-9E65-7BE9-45FB-30FB8BB32066}" name="U V, Suma (Cognizant)" initials="UVS(" userId="S::130507@cognizant.com::4f7947b8-3b59-458a-ab0c-e8875a4c651f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48"/>
    <a:srgbClr val="05819B"/>
    <a:srgbClr val="0ED1D3"/>
    <a:srgbClr val="E2FDFE"/>
    <a:srgbClr val="26EFE9"/>
    <a:srgbClr val="23ECE7"/>
    <a:srgbClr val="1EE5E2"/>
    <a:srgbClr val="19DEDD"/>
    <a:srgbClr val="16DBDB"/>
    <a:srgbClr val="13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AF47B0-6D3A-47B7-B973-60B50A6D1901}" v="2" dt="2026-04-30T09:15:23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1584"/>
        <p:guide orient="horz" pos="3480"/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0CC5-E31C-45D5-FFE7-A6C4A15B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CC6C-8F35-FCB5-D02A-08D1A59C2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4D316-D2D6-CA0C-044F-E7A2F920A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140D-0BFD-6DB6-5FF7-A281BEB9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466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239A-7ECE-C8B3-E865-5595C503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ADB0-7191-D080-D482-8472CB046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25029-1B80-70F9-1D4B-BE2707C1A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4EF7-4DD3-D4F4-A12C-379C22783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34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EA13-AF1A-8B70-96F6-19C21A3D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D5ED-DB7D-4BC8-B98A-A3CC29696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99350-DAA3-61A8-DC34-58BD693BD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8BFF-E1EC-42C7-6256-DA0762898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50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F66E-23D1-8FD4-6C65-7826EE73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EED11-5708-90FB-D6A0-5DB662548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506FF-8AAC-DEB5-CEE8-9DBF9B86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8EDBF-6D04-5580-12FF-983D5EFA0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05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4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statement or quote </a:t>
            </a:r>
            <a:br>
              <a:rPr lang="en-US"/>
            </a:br>
            <a:r>
              <a:rPr lang="en-US"/>
              <a:t>in Arial 36pt bold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B4EFF-B670-387B-EBF2-318801CE65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4DEEBD-7FD8-B1BF-8875-FF2A60284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9843C2-5350-C728-A4D6-7EEEACAF7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186"/>
            <a:ext cx="12192000" cy="68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1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6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796" r:id="rId2"/>
    <p:sldLayoutId id="2147483797" r:id="rId3"/>
    <p:sldLayoutId id="2147483990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5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5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CC2E60-57B6-1161-2BEC-AEB5B3562B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8659" y="3930889"/>
            <a:ext cx="8849360" cy="1500188"/>
          </a:xfrm>
        </p:spPr>
        <p:txBody>
          <a:bodyPr/>
          <a:lstStyle/>
          <a:p>
            <a:r>
              <a:rPr lang="en-US" sz="1800" dirty="0">
                <a:solidFill>
                  <a:srgbClr val="26EFE9"/>
                </a:solidFill>
              </a:rPr>
              <a:t>Idea Title : Supply Chain Disruption Advisor</a:t>
            </a:r>
          </a:p>
          <a:p>
            <a:r>
              <a:rPr lang="en-US" sz="1800" dirty="0">
                <a:solidFill>
                  <a:srgbClr val="26EFE9"/>
                </a:solidFill>
              </a:rPr>
              <a:t>Team Captain Name : </a:t>
            </a:r>
            <a:r>
              <a:rPr lang="en-US" sz="1800" dirty="0" err="1">
                <a:solidFill>
                  <a:srgbClr val="26EFE9"/>
                </a:solidFill>
              </a:rPr>
              <a:t>Prajyant</a:t>
            </a:r>
            <a:r>
              <a:rPr lang="en-US" sz="1800" dirty="0">
                <a:solidFill>
                  <a:srgbClr val="26EFE9"/>
                </a:solidFill>
              </a:rPr>
              <a:t> Veer </a:t>
            </a:r>
            <a:r>
              <a:rPr lang="en-US" sz="1800" dirty="0" err="1">
                <a:solidFill>
                  <a:srgbClr val="26EFE9"/>
                </a:solidFill>
              </a:rPr>
              <a:t>Siag</a:t>
            </a:r>
            <a:endParaRPr lang="en-US" sz="1800" dirty="0">
              <a:solidFill>
                <a:srgbClr val="26EFE9"/>
              </a:solidFill>
            </a:endParaRPr>
          </a:p>
          <a:p>
            <a:r>
              <a:rPr lang="en-US" sz="1800" dirty="0">
                <a:solidFill>
                  <a:srgbClr val="26EFE9"/>
                </a:solidFill>
              </a:rPr>
              <a:t>Team members Names : </a:t>
            </a:r>
            <a:r>
              <a:rPr lang="en-US" sz="1800" dirty="0" err="1">
                <a:solidFill>
                  <a:srgbClr val="26EFE9"/>
                </a:solidFill>
              </a:rPr>
              <a:t>Sparsh</a:t>
            </a:r>
            <a:r>
              <a:rPr lang="en-US" sz="1800" dirty="0">
                <a:solidFill>
                  <a:srgbClr val="26EFE9"/>
                </a:solidFill>
              </a:rPr>
              <a:t> </a:t>
            </a:r>
            <a:r>
              <a:rPr lang="en-US" sz="1800" dirty="0" err="1">
                <a:solidFill>
                  <a:srgbClr val="26EFE9"/>
                </a:solidFill>
              </a:rPr>
              <a:t>Nautiyal,Taranpreet</a:t>
            </a:r>
            <a:r>
              <a:rPr lang="en-US" sz="1800" dirty="0">
                <a:solidFill>
                  <a:srgbClr val="26EFE9"/>
                </a:solidFill>
              </a:rPr>
              <a:t> </a:t>
            </a:r>
            <a:r>
              <a:rPr lang="en-US" sz="1800" dirty="0" err="1">
                <a:solidFill>
                  <a:srgbClr val="26EFE9"/>
                </a:solidFill>
              </a:rPr>
              <a:t>Kaur,Kashish</a:t>
            </a:r>
            <a:r>
              <a:rPr lang="en-US" sz="1800" dirty="0">
                <a:solidFill>
                  <a:srgbClr val="26EFE9"/>
                </a:solidFill>
              </a:rPr>
              <a:t> Sood</a:t>
            </a:r>
          </a:p>
          <a:p>
            <a:r>
              <a:rPr lang="en-US" sz="1800" dirty="0">
                <a:solidFill>
                  <a:srgbClr val="26EFE9"/>
                </a:solidFill>
              </a:rPr>
              <a:t>College Name : Chitkara University ,Punjab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5D5327-9268-AC36-16BC-D3D4B4F25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659" y="3089568"/>
            <a:ext cx="9338360" cy="677108"/>
          </a:xfrm>
        </p:spPr>
        <p:txBody>
          <a:bodyPr/>
          <a:lstStyle/>
          <a:p>
            <a:r>
              <a:rPr lang="en-IN" sz="4400" dirty="0">
                <a:solidFill>
                  <a:schemeClr val="bg1"/>
                </a:solidFill>
              </a:rPr>
              <a:t>MVP Presentation Multi-Bots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4D593-0A14-7819-33D9-764A6414A6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413F6-478A-A902-39B1-3F8B38F63B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9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658E-EA74-4702-7179-E21A88D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B8DBEF-A90E-75BD-2BC7-7AFC952C0D9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DD68C-8495-5A60-1BE1-C5F37EFB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20A1C-385C-1B2C-7EBF-696FA2291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7217ED1-02B9-3398-C290-8D4133CD5DC4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rgbClr val="26EFE9"/>
                </a:solidFill>
              </a:rPr>
              <a:t>Supply Chain Disruption Advisor</a:t>
            </a:r>
          </a:p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1EA97-7795-6D51-F716-B94C0F1807E9}"/>
              </a:ext>
            </a:extLst>
          </p:cNvPr>
          <p:cNvSpPr txBox="1"/>
          <p:nvPr/>
        </p:nvSpPr>
        <p:spPr>
          <a:xfrm>
            <a:off x="516816" y="1331171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96E19-4443-120E-D81A-C7692D38A498}"/>
              </a:ext>
            </a:extLst>
          </p:cNvPr>
          <p:cNvSpPr txBox="1"/>
          <p:nvPr/>
        </p:nvSpPr>
        <p:spPr>
          <a:xfrm>
            <a:off x="6072353" y="1331171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sz="1600" dirty="0"/>
          </a:p>
          <a:p>
            <a:r>
              <a:rPr lang="en-US" sz="1600" dirty="0"/>
              <a:t>The project solves these challenges by acting as an </a:t>
            </a:r>
          </a:p>
          <a:p>
            <a:r>
              <a:rPr lang="en-US" sz="1600" b="1" dirty="0"/>
              <a:t>AI-assisted digital twin platform</a:t>
            </a:r>
            <a:r>
              <a:rPr lang="en-US" sz="1600" dirty="0"/>
              <a:t>. It automatically ingests and analyzes diverse supplier signals to detect disruption risks early. By mapping the supply chain network as a digital twin, it propagates the impact of these risks to show exactly which downstream nodes are affected. Finally, it uses an AI-powered advisory system (grounded in RAG architecture) to provide real-time, actionable mitigation strategies, transforming supply chain management from a reactive process into a proactive, resilient operation.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144D771-232B-BF8B-99CB-FE62206D01F0}"/>
              </a:ext>
            </a:extLst>
          </p:cNvPr>
          <p:cNvSpPr/>
          <p:nvPr/>
        </p:nvSpPr>
        <p:spPr>
          <a:xfrm>
            <a:off x="516815" y="1044264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4C65C9D-AA15-5E74-6D9B-F3AD0A55B29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39373"/>
            <a:ext cx="5029200" cy="954825"/>
          </a:xfrm>
        </p:spPr>
        <p:txBody>
          <a:bodyPr/>
          <a:lstStyle/>
          <a:p>
            <a:r>
              <a:rPr lang="en-US" dirty="0"/>
              <a:t>Global supply chains are highly vulnerable to unpredictable disruptions, yet organizations struggle to manage these risks effectively due to three core challenges:</a:t>
            </a:r>
          </a:p>
          <a:p>
            <a:r>
              <a:rPr lang="en-US" b="1" dirty="0"/>
              <a:t>Delayed Detection:</a:t>
            </a:r>
            <a:r>
              <a:rPr lang="en-US" dirty="0"/>
              <a:t> Teams cannot manually monitor the massive volume of unstructured data (news, emails, reports) fast enough to catch risks early.</a:t>
            </a:r>
          </a:p>
          <a:p>
            <a:r>
              <a:rPr lang="en-US" b="1" dirty="0"/>
              <a:t>Lack of Visibility:</a:t>
            </a:r>
            <a:r>
              <a:rPr lang="en-US" dirty="0"/>
              <a:t> It is extremely difficult to map how a localized disruption at a single supplier will ripple downstream across the entire network.</a:t>
            </a:r>
          </a:p>
          <a:p>
            <a:r>
              <a:rPr lang="en-US" b="1" dirty="0"/>
              <a:t>Reactive Responses:</a:t>
            </a:r>
            <a:r>
              <a:rPr lang="en-US" dirty="0"/>
              <a:t> When issues do occur, teams lack immediate, data-driven recommendations for mitigation, leading to costly operational downtime.</a:t>
            </a:r>
          </a:p>
          <a:p>
            <a:pPr marL="91440" lvl="0">
              <a:spcBef>
                <a:spcPts val="0"/>
              </a:spcBef>
              <a:defRPr/>
            </a:pPr>
            <a:r>
              <a:rPr lang="en-US" sz="1400" dirty="0">
                <a:solidFill>
                  <a:srgbClr val="000048"/>
                </a:solidFill>
              </a:rPr>
              <a:t>.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DC63FB0-4F2F-5940-C47A-29942B42D70B}"/>
              </a:ext>
            </a:extLst>
          </p:cNvPr>
          <p:cNvSpPr/>
          <p:nvPr/>
        </p:nvSpPr>
        <p:spPr>
          <a:xfrm>
            <a:off x="6188785" y="1024939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46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Solution Description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1CEA55F-2FE1-D4B5-990B-70972475C51F}"/>
              </a:ext>
            </a:extLst>
          </p:cNvPr>
          <p:cNvSpPr txBox="1">
            <a:spLocks/>
          </p:cNvSpPr>
          <p:nvPr/>
        </p:nvSpPr>
        <p:spPr>
          <a:xfrm>
            <a:off x="6235831" y="1439373"/>
            <a:ext cx="5029200" cy="9548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defRPr/>
            </a:pPr>
            <a:r>
              <a:rPr lang="en-US" sz="1400" dirty="0">
                <a:solidFill>
                  <a:srgbClr val="00004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8725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8DD6-6B52-5474-6250-F96E193D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468F1D-9D6A-599A-0443-E1FFE4CFDA8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17DB3-EA65-1A10-EB44-623354548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6F8504-8480-10FB-4507-ACE63C36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07D3AD-54C1-1F86-6123-0DE94629CA8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rgbClr val="26EFE9"/>
                </a:solidFill>
              </a:rPr>
              <a:t>Supply Chain Disruption Advisor</a:t>
            </a:r>
          </a:p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38E29-9EFF-F208-66A5-0D909001F7B8}"/>
              </a:ext>
            </a:extLst>
          </p:cNvPr>
          <p:cNvSpPr txBox="1"/>
          <p:nvPr/>
        </p:nvSpPr>
        <p:spPr>
          <a:xfrm>
            <a:off x="516815" y="1350495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DDDEF-C999-7A8D-AE1D-89507AEC2968}"/>
              </a:ext>
            </a:extLst>
          </p:cNvPr>
          <p:cNvSpPr txBox="1"/>
          <p:nvPr/>
        </p:nvSpPr>
        <p:spPr>
          <a:xfrm>
            <a:off x="6188785" y="1350495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25EBED6-B2DB-B91B-284D-B232A7F40575}"/>
              </a:ext>
            </a:extLst>
          </p:cNvPr>
          <p:cNvSpPr/>
          <p:nvPr/>
        </p:nvSpPr>
        <p:spPr>
          <a:xfrm>
            <a:off x="516815" y="1024940"/>
            <a:ext cx="3924300" cy="39266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Uniqueness / Innovativeness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F293E2CD-A5B9-36EA-2CDA-4A9098BC00B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17601"/>
            <a:ext cx="5369968" cy="954825"/>
          </a:xfrm>
        </p:spPr>
        <p:txBody>
          <a:bodyPr/>
          <a:lstStyle/>
          <a:p>
            <a:pPr indent="-122238">
              <a:spcBef>
                <a:spcPts val="0"/>
              </a:spcBef>
              <a:defRPr/>
            </a:pPr>
            <a:r>
              <a:rPr lang="en-US" sz="1400" dirty="0">
                <a:solidFill>
                  <a:schemeClr val="tx2"/>
                </a:solidFill>
              </a:rPr>
              <a:t>Predictive, not reactive — AI cross-references supplier emails with live world events to predict disruptions before they're reported</a:t>
            </a:r>
          </a:p>
          <a:p>
            <a:pPr indent="-122238">
              <a:spcBef>
                <a:spcPts val="0"/>
              </a:spcBef>
              <a:defRPr/>
            </a:pPr>
            <a:endParaRPr lang="en-US" sz="1400" dirty="0">
              <a:solidFill>
                <a:schemeClr val="tx2"/>
              </a:solidFill>
            </a:endParaRPr>
          </a:p>
          <a:p>
            <a:pPr indent="-122238">
              <a:spcBef>
                <a:spcPts val="0"/>
              </a:spcBef>
              <a:defRPr/>
            </a:pPr>
            <a:r>
              <a:rPr lang="en-US" sz="1400" dirty="0">
                <a:solidFill>
                  <a:schemeClr val="tx2"/>
                </a:solidFill>
              </a:rPr>
              <a:t>Hybrid AI with guardrails — </a:t>
            </a:r>
            <a:r>
              <a:rPr lang="en-US" sz="1400" dirty="0" err="1">
                <a:solidFill>
                  <a:schemeClr val="tx2"/>
                </a:solidFill>
              </a:rPr>
              <a:t>XGBoost</a:t>
            </a:r>
            <a:r>
              <a:rPr lang="en-US" sz="1400" dirty="0">
                <a:solidFill>
                  <a:schemeClr val="tx2"/>
                </a:solidFill>
              </a:rPr>
              <a:t> scores, Gemini explains, Strands orchestrates. No hallucinated risk scores.</a:t>
            </a:r>
          </a:p>
          <a:p>
            <a:pPr indent="-122238">
              <a:spcBef>
                <a:spcPts val="0"/>
              </a:spcBef>
              <a:defRPr/>
            </a:pPr>
            <a:endParaRPr lang="en-US" sz="1400" dirty="0">
              <a:solidFill>
                <a:schemeClr val="tx2"/>
              </a:solidFill>
            </a:endParaRPr>
          </a:p>
          <a:p>
            <a:pPr indent="-122238">
              <a:spcBef>
                <a:spcPts val="0"/>
              </a:spcBef>
              <a:defRPr/>
            </a:pPr>
            <a:r>
              <a:rPr lang="en-US" sz="1400" dirty="0">
                <a:solidFill>
                  <a:schemeClr val="tx2"/>
                </a:solidFill>
              </a:rPr>
              <a:t>Route-aware filtering — Only flags weather/trade/news events geographically relevant to the actual shipment route</a:t>
            </a:r>
          </a:p>
          <a:p>
            <a:pPr indent="-122238">
              <a:spcBef>
                <a:spcPts val="0"/>
              </a:spcBef>
              <a:defRPr/>
            </a:pPr>
            <a:endParaRPr lang="en-US" sz="1400" dirty="0">
              <a:solidFill>
                <a:schemeClr val="tx2"/>
              </a:solidFill>
            </a:endParaRPr>
          </a:p>
          <a:p>
            <a:pPr indent="-122238">
              <a:spcBef>
                <a:spcPts val="0"/>
              </a:spcBef>
              <a:defRPr/>
            </a:pPr>
            <a:r>
              <a:rPr lang="en-US" sz="1400" dirty="0">
                <a:solidFill>
                  <a:schemeClr val="tx2"/>
                </a:solidFill>
              </a:rPr>
              <a:t>Live digital twin — Dynamic graph that auto-propagates risk downstream through the supply network</a:t>
            </a:r>
          </a:p>
          <a:p>
            <a:pPr indent="-122238">
              <a:spcBef>
                <a:spcPts val="0"/>
              </a:spcBef>
              <a:defRPr/>
            </a:pPr>
            <a:endParaRPr lang="en-US" sz="1400" dirty="0">
              <a:solidFill>
                <a:schemeClr val="tx2"/>
              </a:solidFill>
            </a:endParaRPr>
          </a:p>
          <a:p>
            <a:pPr indent="-122238">
              <a:spcBef>
                <a:spcPts val="0"/>
              </a:spcBef>
              <a:defRPr/>
            </a:pPr>
            <a:r>
              <a:rPr lang="en-US" sz="1400" dirty="0">
                <a:solidFill>
                  <a:schemeClr val="tx2"/>
                </a:solidFill>
              </a:rPr>
              <a:t>Never breaks — Deterministic fallback at every layer; fully explainable, no vendor lock-in</a:t>
            </a:r>
          </a:p>
          <a:p>
            <a:pPr indent="-122238">
              <a:spcBef>
                <a:spcPts val="0"/>
              </a:spcBef>
              <a:defRPr/>
            </a:pPr>
            <a:endParaRPr lang="en-US" sz="1400" dirty="0">
              <a:solidFill>
                <a:schemeClr val="tx2"/>
              </a:solidFill>
            </a:endParaRPr>
          </a:p>
          <a:p>
            <a:pPr indent="-122238">
              <a:spcBef>
                <a:spcPts val="0"/>
              </a:spcBef>
              <a:defRPr/>
            </a:pP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5185B65-BFBE-8996-BFCB-A93D2E21224C}"/>
              </a:ext>
            </a:extLst>
          </p:cNvPr>
          <p:cNvSpPr/>
          <p:nvPr/>
        </p:nvSpPr>
        <p:spPr>
          <a:xfrm>
            <a:off x="6188785" y="1024939"/>
            <a:ext cx="4522758" cy="414434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schemeClr val="bg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Business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 Impact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A194955-6208-156E-96F5-58AEA47DF8BA}"/>
              </a:ext>
            </a:extLst>
          </p:cNvPr>
          <p:cNvSpPr txBox="1">
            <a:spLocks/>
          </p:cNvSpPr>
          <p:nvPr/>
        </p:nvSpPr>
        <p:spPr>
          <a:xfrm>
            <a:off x="6268489" y="1461145"/>
            <a:ext cx="5029200" cy="9548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2"/>
                </a:solidFill>
              </a:rPr>
              <a:t>Quantitative Benefits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90% faster disruption detection (days → under 1 hour)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65% reduction in supply chain downtime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30–40% savings on emergency freight costs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80% less manual monitoring effort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50–60% fewer stockout incidents</a:t>
            </a: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2"/>
                </a:solidFill>
              </a:rPr>
              <a:t>Qualitative Benefits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tx2"/>
                </a:solidFill>
              </a:rPr>
              <a:t>Proactive decisions instead of fire-fighting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tx2"/>
                </a:solidFill>
              </a:rPr>
              <a:t>Explainable AI that analysts actually trust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tx2"/>
                </a:solidFill>
              </a:rPr>
              <a:t>Automated playbooks reduce dependency on key personnel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tx2"/>
                </a:solidFill>
              </a:rPr>
              <a:t>Single dashboard unifying 6 live data sources</a:t>
            </a: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2"/>
                </a:solidFill>
              </a:rPr>
              <a:t>ROI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tx2"/>
                </a:solidFill>
              </a:rPr>
              <a:t>Avg cost of one major disruption: $500K–$2M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tx2"/>
                </a:solidFill>
              </a:rPr>
              <a:t>System prevents 3–5 per year through early detection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tx2"/>
                </a:solidFill>
              </a:rPr>
              <a:t>Implementation cost: ~$150K–$300K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tx2"/>
                </a:solidFill>
              </a:rPr>
              <a:t>ROI: 5x–30x in Year 1</a:t>
            </a:r>
          </a:p>
          <a:p>
            <a:pPr>
              <a:spcBef>
                <a:spcPts val="0"/>
              </a:spcBef>
            </a:pPr>
            <a:endParaRPr lang="en-US" sz="1400" dirty="0">
              <a:solidFill>
                <a:schemeClr val="tx2"/>
              </a:solidFill>
            </a:endParaRPr>
          </a:p>
          <a:p>
            <a:pPr>
              <a:spcBef>
                <a:spcPts val="0"/>
              </a:spcBef>
            </a:pPr>
            <a:r>
              <a:rPr lang="en-US" sz="1400" b="1" dirty="0">
                <a:solidFill>
                  <a:schemeClr val="tx2"/>
                </a:solidFill>
              </a:rPr>
              <a:t>Pays for itself by preventing even one major disruption.</a:t>
            </a:r>
          </a:p>
        </p:txBody>
      </p:sp>
    </p:spTree>
    <p:extLst>
      <p:ext uri="{BB962C8B-B14F-4D97-AF65-F5344CB8AC3E}">
        <p14:creationId xmlns:p14="http://schemas.microsoft.com/office/powerpoint/2010/main" val="181002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E35-8838-5ED2-C5B6-BF0A77C9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rgbClr val="26EFE9"/>
                </a:solidFill>
              </a:rPr>
              <a:t>Supply Chain Disruption Advisor</a:t>
            </a:r>
          </a:p>
          <a:p>
            <a:pPr>
              <a:defRPr/>
            </a:pPr>
            <a:endParaRPr lang="en-US" sz="2400" dirty="0">
              <a:solidFill>
                <a:srgbClr val="26EFE9"/>
              </a:solidFill>
            </a:endParaRPr>
          </a:p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39F33-AEB3-9831-E36A-CF4583BA7FC1}"/>
              </a:ext>
            </a:extLst>
          </p:cNvPr>
          <p:cNvSpPr txBox="1"/>
          <p:nvPr/>
        </p:nvSpPr>
        <p:spPr>
          <a:xfrm>
            <a:off x="3910009" y="6528876"/>
            <a:ext cx="4206240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** Use additional slides to include other relevant details, as required.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495867" y="1331170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Technical Design and architecture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A4A1186-2DC0-71F3-F90D-A7CEECC535A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99755"/>
            <a:ext cx="10960039" cy="54283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AWS / AI / GenAI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AWS Bedrock (Claude/Titan) — risk explanation, mitigation, multi-agent debate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AWS Strands Agents — deterministic 5-tool orchestration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AWS DynamoDB — auto-scaling persistence (5 tables, PAY_PER_REQUEST)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XGBoost</a:t>
            </a:r>
            <a:r>
              <a:rPr lang="en-US" sz="1400" dirty="0"/>
              <a:t> — 15-feature quantitative risk scoring (no hallucination)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Kiro IDE — full development with specs, steering, hooks</a:t>
            </a:r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Core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Backend: Python · </a:t>
            </a:r>
            <a:r>
              <a:rPr lang="en-US" sz="1400" dirty="0" err="1"/>
              <a:t>FastAPI</a:t>
            </a:r>
            <a:r>
              <a:rPr lang="en-US" sz="1400" dirty="0"/>
              <a:t> · </a:t>
            </a:r>
            <a:r>
              <a:rPr lang="en-US" sz="1400" dirty="0" err="1"/>
              <a:t>WebSockets</a:t>
            </a:r>
            <a:r>
              <a:rPr lang="en-US" sz="1400" dirty="0"/>
              <a:t> · </a:t>
            </a:r>
            <a:r>
              <a:rPr lang="en-US" sz="1400" dirty="0" err="1"/>
              <a:t>Pydantic</a:t>
            </a:r>
            <a:r>
              <a:rPr lang="en-US" sz="1400" dirty="0"/>
              <a:t> </a:t>
            </a:r>
            <a:r>
              <a:rPr lang="en-US" sz="1400" dirty="0" err="1"/>
              <a:t>LangGraph</a:t>
            </a:r>
            <a:r>
              <a:rPr lang="en-US" sz="1400" dirty="0"/>
              <a:t> </a:t>
            </a:r>
            <a:r>
              <a:rPr lang="en-US" sz="1400" dirty="0" err="1"/>
              <a:t>LangChain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Frontend: React · TypeScript · React Flow · Leaflet · Tailwind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Auth: Firebase + JWT + RBAC</a:t>
            </a:r>
          </a:p>
        </p:txBody>
      </p:sp>
    </p:spTree>
    <p:extLst>
      <p:ext uri="{BB962C8B-B14F-4D97-AF65-F5344CB8AC3E}">
        <p14:creationId xmlns:p14="http://schemas.microsoft.com/office/powerpoint/2010/main" val="50999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5B28E3-4F63-6D84-E625-820413E7A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Architecture Flow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    User → React Dashboard → </a:t>
            </a:r>
            <a:r>
              <a:rPr lang="en-IN" dirty="0" err="1"/>
              <a:t>FastAPI</a:t>
            </a:r>
            <a:r>
              <a:rPr lang="en-IN" dirty="0"/>
              <a:t> Backend</a:t>
            </a:r>
            <a:br>
              <a:rPr lang="en-IN" dirty="0"/>
            </a:br>
            <a:r>
              <a:rPr lang="en-IN" dirty="0"/>
              <a:t>                              ↓</a:t>
            </a:r>
            <a:br>
              <a:rPr lang="en-IN" dirty="0"/>
            </a:br>
            <a:r>
              <a:rPr lang="en-IN" dirty="0"/>
              <a:t>    Strands Agent: Intelligence → Vessel → Score (</a:t>
            </a:r>
            <a:r>
              <a:rPr lang="en-IN" dirty="0" err="1"/>
              <a:t>XGBoost</a:t>
            </a:r>
            <a:r>
              <a:rPr lang="en-IN" dirty="0"/>
              <a:t>) → Advise (Bedrock) → Validate</a:t>
            </a:r>
            <a:br>
              <a:rPr lang="en-IN" dirty="0"/>
            </a:br>
            <a:r>
              <a:rPr lang="en-IN" dirty="0"/>
              <a:t>                     ↓</a:t>
            </a:r>
            <a:br>
              <a:rPr lang="en-IN" dirty="0"/>
            </a:br>
            <a:r>
              <a:rPr lang="en-IN" dirty="0"/>
              <a:t>    Multi-Agent Debate: Risk vs Cost vs Speed → Final Recommendation</a:t>
            </a:r>
            <a:br>
              <a:rPr lang="en-IN" dirty="0"/>
            </a:br>
            <a:r>
              <a:rPr lang="en-IN" dirty="0"/>
              <a:t> ↓</a:t>
            </a:r>
            <a:br>
              <a:rPr lang="en-IN" dirty="0"/>
            </a:br>
            <a:r>
              <a:rPr lang="en-IN" dirty="0"/>
              <a:t>    Feedback Loop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    DynamoDB + Background Workers (auto-refresh every 15 min)</a:t>
            </a:r>
            <a:br>
              <a:rPr lang="en-IN" dirty="0"/>
            </a:br>
            <a:r>
              <a:rPr lang="en-IN" dirty="0"/>
              <a:t>    Graph Service propagates risk downstream in real-time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68B7FF-F66C-E4E3-CA71-3B1FBB099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Cognizant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3F191-5885-F08B-332E-F9733ED59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69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06B2-2B56-208C-1D8D-A2504C8A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EBD7C2-ABAF-7D0F-B3A2-993B35CBBCB8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59DA6-B2BF-8792-AD1F-23DAFC891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Cognizant 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1B0EF-F52D-5F0F-23C8-716084726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B8E245-4828-3B89-44E7-B5C08C114BE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rgbClr val="26EFE9"/>
                </a:solidFill>
              </a:rPr>
              <a:t>Supply Chain Disruption Advisor</a:t>
            </a:r>
          </a:p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A27B2-E9FC-31F0-BBA2-0630D60A0053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2794A1-4959-3DC1-D2F8-05442DC7955A}"/>
              </a:ext>
            </a:extLst>
          </p:cNvPr>
          <p:cNvSpPr txBox="1"/>
          <p:nvPr/>
        </p:nvSpPr>
        <p:spPr>
          <a:xfrm>
            <a:off x="6095999" y="1278921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714BA1E-65C7-7C9C-3F08-0D0484356266}"/>
              </a:ext>
            </a:extLst>
          </p:cNvPr>
          <p:cNvSpPr/>
          <p:nvPr/>
        </p:nvSpPr>
        <p:spPr>
          <a:xfrm>
            <a:off x="516815" y="1044264"/>
            <a:ext cx="4799464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Scalable / Reusable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36AB9FD5-0256-0FA8-A120-BB544705251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39373"/>
            <a:ext cx="5029200" cy="954825"/>
          </a:xfrm>
        </p:spPr>
        <p:txBody>
          <a:bodyPr/>
          <a:lstStyle/>
          <a:p>
            <a:pPr marL="91440" lvl="0">
              <a:spcBef>
                <a:spcPts val="0"/>
              </a:spcBef>
              <a:defRPr/>
            </a:pPr>
            <a:r>
              <a:rPr lang="en-US" sz="1400" dirty="0" err="1">
                <a:solidFill>
                  <a:srgbClr val="000048"/>
                </a:solidFill>
              </a:rPr>
              <a:t>Dockerized</a:t>
            </a:r>
            <a:r>
              <a:rPr lang="en-US" sz="1400" dirty="0">
                <a:solidFill>
                  <a:srgbClr val="000048"/>
                </a:solidFill>
              </a:rPr>
              <a:t>, one-command deploy → AWS ECS / Cloud Run</a:t>
            </a:r>
          </a:p>
          <a:p>
            <a:pPr marL="91440" lvl="0">
              <a:spcBef>
                <a:spcPts val="0"/>
              </a:spcBef>
              <a:defRPr/>
            </a:pPr>
            <a:r>
              <a:rPr lang="en-US" sz="1400" dirty="0">
                <a:solidFill>
                  <a:srgbClr val="000048"/>
                </a:solidFill>
              </a:rPr>
              <a:t>Works without AI keys (deterministic fallbacks)</a:t>
            </a:r>
          </a:p>
          <a:p>
            <a:pPr marL="91440" lvl="0">
              <a:spcBef>
                <a:spcPts val="0"/>
              </a:spcBef>
              <a:defRPr/>
            </a:pPr>
            <a:r>
              <a:rPr lang="en-US" sz="1400" dirty="0">
                <a:solidFill>
                  <a:srgbClr val="000048"/>
                </a:solidFill>
              </a:rPr>
              <a:t>Real-time WebSocket updates, auto-refreshing background workers</a:t>
            </a:r>
          </a:p>
          <a:p>
            <a:pPr marL="91440" lvl="0">
              <a:spcBef>
                <a:spcPts val="0"/>
              </a:spcBef>
              <a:defRPr/>
            </a:pPr>
            <a:r>
              <a:rPr lang="en-US" sz="1400" dirty="0">
                <a:solidFill>
                  <a:srgbClr val="000048"/>
                </a:solidFill>
              </a:rPr>
              <a:t>Easy to Configure for Any Business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>
              <a:solidFill>
                <a:srgbClr val="000048"/>
              </a:solidFill>
            </a:endParaRPr>
          </a:p>
          <a:p>
            <a:pPr marL="91440" lvl="0">
              <a:spcBef>
                <a:spcPts val="0"/>
              </a:spcBef>
              <a:defRPr/>
            </a:pPr>
            <a:r>
              <a:rPr lang="en-US" sz="1400" dirty="0">
                <a:solidFill>
                  <a:srgbClr val="000048"/>
                </a:solidFill>
              </a:rPr>
              <a:t>Upload new supplier/route CSVs → go live in minutes</a:t>
            </a:r>
          </a:p>
          <a:p>
            <a:pPr marL="91440" lvl="0">
              <a:spcBef>
                <a:spcPts val="0"/>
              </a:spcBef>
              <a:defRPr/>
            </a:pPr>
            <a:r>
              <a:rPr lang="en-US" sz="1400" dirty="0">
                <a:solidFill>
                  <a:srgbClr val="000048"/>
                </a:solidFill>
              </a:rPr>
              <a:t>All settings via environment variables (AI model, intervals, auth)</a:t>
            </a:r>
          </a:p>
          <a:p>
            <a:pPr marL="91440" lvl="0">
              <a:spcBef>
                <a:spcPts val="0"/>
              </a:spcBef>
              <a:defRPr/>
            </a:pPr>
            <a:r>
              <a:rPr lang="en-US" sz="1400" dirty="0">
                <a:solidFill>
                  <a:srgbClr val="000048"/>
                </a:solidFill>
              </a:rPr>
              <a:t>Modular: plug in new data sources without touching core logic</a:t>
            </a:r>
          </a:p>
          <a:p>
            <a:pPr marL="91440" lvl="0">
              <a:spcBef>
                <a:spcPts val="0"/>
              </a:spcBef>
              <a:defRPr/>
            </a:pPr>
            <a:r>
              <a:rPr lang="en-US" sz="1400" dirty="0">
                <a:solidFill>
                  <a:srgbClr val="000048"/>
                </a:solidFill>
              </a:rPr>
              <a:t>Swap SQLite → PostgreSQL with one config change</a:t>
            </a:r>
          </a:p>
          <a:p>
            <a:pPr marL="91440" lvl="0">
              <a:spcBef>
                <a:spcPts val="0"/>
              </a:spcBef>
              <a:defRPr/>
            </a:pPr>
            <a:r>
              <a:rPr lang="en-US" sz="1400" dirty="0">
                <a:solidFill>
                  <a:srgbClr val="000048"/>
                </a:solidFill>
              </a:rPr>
              <a:t>Applicable Industries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>
              <a:solidFill>
                <a:srgbClr val="000048"/>
              </a:solidFill>
            </a:endParaRPr>
          </a:p>
          <a:p>
            <a:pPr marL="91440" lvl="0">
              <a:spcBef>
                <a:spcPts val="0"/>
              </a:spcBef>
              <a:defRPr/>
            </a:pPr>
            <a:r>
              <a:rPr lang="en-US" sz="1400" dirty="0">
                <a:solidFill>
                  <a:srgbClr val="000048"/>
                </a:solidFill>
              </a:rPr>
              <a:t>Manufacturing · Pharma · Retail · Oil &amp; Gas · Automotive · Food &amp; Agriculture</a:t>
            </a:r>
          </a:p>
          <a:p>
            <a:pPr marL="91440" lvl="0">
              <a:spcBef>
                <a:spcPts val="0"/>
              </a:spcBef>
              <a:defRPr/>
            </a:pPr>
            <a:r>
              <a:rPr lang="en-US" sz="1400" dirty="0">
                <a:solidFill>
                  <a:srgbClr val="000048"/>
                </a:solidFill>
              </a:rPr>
              <a:t>Bottom line: Any business with suppliers, shipments, and routes can go live in days — not months. No vendor lock-in.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CF91496-85DD-D02F-082E-D49F7DFA647E}"/>
              </a:ext>
            </a:extLst>
          </p:cNvPr>
          <p:cNvSpPr/>
          <p:nvPr/>
        </p:nvSpPr>
        <p:spPr>
          <a:xfrm>
            <a:off x="6188785" y="1024939"/>
            <a:ext cx="4156694" cy="34488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Roadmap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A7FA394-9C18-5BA5-A7E4-5BC0E1FA68C8}"/>
              </a:ext>
            </a:extLst>
          </p:cNvPr>
          <p:cNvSpPr txBox="1">
            <a:spLocks/>
          </p:cNvSpPr>
          <p:nvPr/>
        </p:nvSpPr>
        <p:spPr>
          <a:xfrm>
            <a:off x="6235831" y="1439373"/>
            <a:ext cx="5029200" cy="39284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719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ERP/SAP live integration (replace CSV ingestion)</a:t>
            </a:r>
          </a:p>
          <a:p>
            <a:pPr marL="37719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Satellite imagery for port congestion &amp; warehouse monitoring</a:t>
            </a:r>
          </a:p>
          <a:p>
            <a:pPr marL="37719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Multi-agent collaboration (procurement agent, logistics agent, finance agent)</a:t>
            </a:r>
          </a:p>
          <a:p>
            <a:pPr marL="37719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Autonomous playbook execution (auto-trigger POs, reroute shipments with approval)</a:t>
            </a:r>
          </a:p>
          <a:p>
            <a:pPr marL="37719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Mobile app with push alerts for critical disruptions</a:t>
            </a:r>
          </a:p>
          <a:p>
            <a:pPr marL="37719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Compliance module (CBAM, ESG, sanctions screening)</a:t>
            </a:r>
          </a:p>
          <a:p>
            <a:pPr marL="37719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Supplier self-service portal (upload capacity updates, confirm ETAs)</a:t>
            </a:r>
          </a:p>
          <a:p>
            <a:pPr marL="37719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Predictive demand-supply matching using historical patterns</a:t>
            </a:r>
          </a:p>
          <a:p>
            <a:pPr marL="37719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Carbon footprint tracking per shipment route</a:t>
            </a:r>
          </a:p>
          <a:p>
            <a:pPr marL="37719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Vision: From disruption advisor → autonomous supply chain co-pilot.</a:t>
            </a:r>
          </a:p>
        </p:txBody>
      </p:sp>
    </p:spTree>
    <p:extLst>
      <p:ext uri="{BB962C8B-B14F-4D97-AF65-F5344CB8AC3E}">
        <p14:creationId xmlns:p14="http://schemas.microsoft.com/office/powerpoint/2010/main" val="442285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9312-CD68-5C9C-0566-BC59C608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F6DC-034A-386C-85C3-E9BFF7BE1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365335"/>
            <a:ext cx="6053327" cy="92333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572D9-700A-7FEC-1F56-7C7C6675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B3EE0-4971-0D8C-F534-22A0ECF9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90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2.xml><?xml version="1.0" encoding="utf-8"?>
<a:theme xmlns:a="http://schemas.openxmlformats.org/drawingml/2006/main" name="2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E60DD53B08764D9FBA21DBED3214CC" ma:contentTypeVersion="22" ma:contentTypeDescription="Create a new document." ma:contentTypeScope="" ma:versionID="3dd4086fc227d84930da0763be3e0042">
  <xsd:schema xmlns:xsd="http://www.w3.org/2001/XMLSchema" xmlns:xs="http://www.w3.org/2001/XMLSchema" xmlns:p="http://schemas.microsoft.com/office/2006/metadata/properties" xmlns:ns2="0a84972d-ef8c-45a9-9686-55cfd8231be0" xmlns:ns3="1eec79b3-321e-4dfa-8d23-6bc73fc62350" xmlns:ns4="3c35e321-f73a-4dae-ae38-a0459de24735" targetNamespace="http://schemas.microsoft.com/office/2006/metadata/properties" ma:root="true" ma:fieldsID="d8be992cee903fad960eda9f235136ae" ns2:_="" ns3:_="" ns4:_="">
    <xsd:import namespace="0a84972d-ef8c-45a9-9686-55cfd8231be0"/>
    <xsd:import namespace="1eec79b3-321e-4dfa-8d23-6bc73fc62350"/>
    <xsd:import namespace="3c35e321-f73a-4dae-ae38-a0459de24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Source" minOccurs="0"/>
                <xsd:element ref="ns2:MediaServiceBillingMetadata" minOccurs="0"/>
                <xsd:element ref="ns2:M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4972d-ef8c-45a9-9686-55cfd8231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ource" ma:index="27" nillable="true" ma:displayName="Source" ma:format="Dropdown" ma:internalName="Source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M" ma:index="29" nillable="true" ma:displayName="MM" ma:format="DateOnly" ma:internalName="MM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ec79b3-321e-4dfa-8d23-6bc73fc6235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5e321-f73a-4dae-ae38-a0459de24735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4a3e1da5-f246-4675-b38f-a7f514a07e2f}" ma:internalName="TaxCatchAll" ma:showField="CatchAllData" ma:web="1eec79b3-321e-4dfa-8d23-6bc73fc623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 xmlns="0a84972d-ef8c-45a9-9686-55cfd8231be0" xsi:nil="true"/>
    <MM xmlns="0a84972d-ef8c-45a9-9686-55cfd8231be0" xsi:nil="true"/>
    <_Flow_SignoffStatus xmlns="0a84972d-ef8c-45a9-9686-55cfd8231be0" xsi:nil="true"/>
    <lcf76f155ced4ddcb4097134ff3c332f xmlns="0a84972d-ef8c-45a9-9686-55cfd8231be0">
      <Terms xmlns="http://schemas.microsoft.com/office/infopath/2007/PartnerControls"/>
    </lcf76f155ced4ddcb4097134ff3c332f>
    <TaxCatchAll xmlns="3c35e321-f73a-4dae-ae38-a0459de24735" xsi:nil="true"/>
  </documentManagement>
</p:properties>
</file>

<file path=customXml/itemProps1.xml><?xml version="1.0" encoding="utf-8"?>
<ds:datastoreItem xmlns:ds="http://schemas.openxmlformats.org/officeDocument/2006/customXml" ds:itemID="{DB24D5D3-2BE3-4278-95F2-2A2616C3D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84972d-ef8c-45a9-9686-55cfd8231be0"/>
    <ds:schemaRef ds:uri="1eec79b3-321e-4dfa-8d23-6bc73fc62350"/>
    <ds:schemaRef ds:uri="3c35e321-f73a-4dae-ae38-a0459de247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3E83F0-6E45-4BB2-99A3-73A594F63E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1035EC-6D18-44A4-BB42-C9DEBF2D5983}">
  <ds:schemaRefs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13f2c8c6-9aca-4830-85ce-a55535ee011e"/>
    <ds:schemaRef ds:uri="http://purl.org/dc/terms/"/>
    <ds:schemaRef ds:uri="http://schemas.openxmlformats.org/package/2006/metadata/core-properties"/>
    <ds:schemaRef ds:uri="0a84972d-ef8c-45a9-9686-55cfd8231be0"/>
    <ds:schemaRef ds:uri="3c35e321-f73a-4dae-ae38-a0459de24735"/>
  </ds:schemaRefs>
</ds:datastoreItem>
</file>

<file path=docMetadata/LabelInfo.xml><?xml version="1.0" encoding="utf-8"?>
<clbl:labelList xmlns:clbl="http://schemas.microsoft.com/office/2020/mipLabelMetadata">
  <clbl:label id="{de08c407-19b9-427d-9fe8-edf254300ca7}" enabled="0" method="" siteId="{de08c407-19b9-427d-9fe8-edf254300c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7904</TotalTime>
  <Words>896</Words>
  <Application>Microsoft Office PowerPoint</Application>
  <PresentationFormat>Widescreen</PresentationFormat>
  <Paragraphs>107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</vt:lpstr>
      <vt:lpstr>Wingdings</vt:lpstr>
      <vt:lpstr>1_Office Theme</vt:lpstr>
      <vt:lpstr>2_Office Theme</vt:lpstr>
      <vt:lpstr>MVP Presentation Multi-Bots</vt:lpstr>
      <vt:lpstr>PowerPoint Presentation</vt:lpstr>
      <vt:lpstr>PowerPoint Presentation</vt:lpstr>
      <vt:lpstr>PowerPoint Presentation</vt:lpstr>
      <vt:lpstr>Architecture Flow       User → React Dashboard → FastAPI Backend                               ↓     Strands Agent: Intelligence → Vessel → Score (XGBoost) → Advise (Bedrock) → Validate                      ↓     Multi-Agent Debate: Risk vs Cost vs Speed → Final Recommendation  ↓     Feedback Loop ↓     DynamoDB + Background Workers (auto-refresh every 15 min)     Graph Service propagates risk downstream in real-time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Bluebolt Excellence Awards 2025 FAQ Document</dc:title>
  <dc:subject/>
  <dc:creator>SPARSH NAUTIYAL</dc:creator>
  <cp:keywords/>
  <dc:description/>
  <cp:lastModifiedBy>sparshnautiyal2005@gmail.com</cp:lastModifiedBy>
  <cp:revision>3</cp:revision>
  <dcterms:created xsi:type="dcterms:W3CDTF">2022-04-01T05:31:57Z</dcterms:created>
  <dcterms:modified xsi:type="dcterms:W3CDTF">2026-05-07T06:08:20Z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Rejected By">
    <vt:lpwstr/>
  </property>
  <property fmtid="{D5CDD505-2E9C-101B-9397-08002B2CF9AE}" pid="4" name="Will our competitors be interested in acquiring the information shared in this document?">
    <vt:lpwstr>Little or no chance</vt:lpwstr>
  </property>
  <property fmtid="{D5CDD505-2E9C-101B-9397-08002B2CF9AE}" pid="5" name="Criticality">
    <vt:lpwstr>C3</vt:lpwstr>
  </property>
  <property fmtid="{D5CDD505-2E9C-101B-9397-08002B2CF9AE}" pid="6" name="Last Updated By">
    <vt:lpwstr>717;#717</vt:lpwstr>
  </property>
  <property fmtid="{D5CDD505-2E9C-101B-9397-08002B2CF9AE}" pid="7" name="ContentTypeId">
    <vt:lpwstr>0x010100C0E60DD53B08764D9FBA21DBED3214CC</vt:lpwstr>
  </property>
  <property fmtid="{D5CDD505-2E9C-101B-9397-08002B2CF9AE}" pid="8" name="PreviousFeatured">
    <vt:lpwstr>Approved-False</vt:lpwstr>
  </property>
  <property fmtid="{D5CDD505-2E9C-101B-9397-08002B2CF9AE}" pid="9" name="Approved Date">
    <vt:filetime>2025-12-22T13:28:00Z</vt:filetime>
  </property>
  <property fmtid="{D5CDD505-2E9C-101B-9397-08002B2CF9AE}" pid="10" name="Approved By">
    <vt:lpwstr>717;#717</vt:lpwstr>
  </property>
</Properties>
</file>